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"/>
  </p:notesMasterIdLst>
  <p:sldIdLst>
    <p:sldId id="257" r:id="rId3"/>
    <p:sldId id="258" r:id="rId4"/>
    <p:sldId id="259" r:id="rId5"/>
    <p:sldId id="269" r:id="rId6"/>
    <p:sldId id="270" r:id="rId8"/>
  </p:sldIdLst>
  <p:sldSz cx="12192000" cy="6858000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ptos" panose="020B00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ptos" panose="020B00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ptos" panose="020B00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ptos" panose="020B00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ptos" panose="020B00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ptos" panose="020B00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ptos" panose="020B00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ptos" panose="020B00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ptos" panose="020B00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3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 showGuides="1">
      <p:cViewPr varScale="1">
        <p:scale>
          <a:sx n="76" d="100"/>
          <a:sy n="76" d="100"/>
        </p:scale>
        <p:origin x="62" y="43"/>
      </p:cViewPr>
      <p:guideLst>
        <p:guide orient="horz" pos="2133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0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 dirty="0">
                <a:latin typeface="+mn-lt"/>
              </a:defRPr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1048671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</a:defRPr>
            </a:lvl1pPr>
          </a:lstStyle>
          <a:p>
            <a:pPr>
              <a:defRPr/>
            </a:pPr>
            <a:fld id="{79433808-1B9F-4808-A56F-A7A8567D7C3F}" type="datetimeFigureOut">
              <a:rPr lang="en-IN"/>
            </a:fld>
            <a:endParaRPr lang="en-IN"/>
          </a:p>
        </p:txBody>
      </p:sp>
      <p:sp>
        <p:nvSpPr>
          <p:cNvPr id="1048672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IN" noProof="0"/>
          </a:p>
        </p:txBody>
      </p:sp>
      <p:sp>
        <p:nvSpPr>
          <p:cNvPr id="1048673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  <a:endParaRPr lang="en-US" noProof="0"/>
          </a:p>
          <a:p>
            <a:pPr lvl="1"/>
            <a:r>
              <a:rPr lang="en-US" noProof="0"/>
              <a:t>Second level</a:t>
            </a:r>
            <a:endParaRPr lang="en-US" noProof="0"/>
          </a:p>
          <a:p>
            <a:pPr lvl="2"/>
            <a:r>
              <a:rPr lang="en-US" noProof="0"/>
              <a:t>Third level</a:t>
            </a:r>
            <a:endParaRPr lang="en-US" noProof="0"/>
          </a:p>
          <a:p>
            <a:pPr lvl="3"/>
            <a:r>
              <a:rPr lang="en-US" noProof="0"/>
              <a:t>Fourth level</a:t>
            </a:r>
            <a:endParaRPr lang="en-US" noProof="0"/>
          </a:p>
          <a:p>
            <a:pPr lvl="4"/>
            <a:r>
              <a:rPr lang="en-US" noProof="0"/>
              <a:t>Fifth level</a:t>
            </a:r>
            <a:endParaRPr lang="en-IN" noProof="0"/>
          </a:p>
        </p:txBody>
      </p:sp>
      <p:sp>
        <p:nvSpPr>
          <p:cNvPr id="1048674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 dirty="0">
                <a:latin typeface="+mn-lt"/>
              </a:defRPr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1048675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</a:defRPr>
            </a:lvl1pPr>
          </a:lstStyle>
          <a:p>
            <a:pPr>
              <a:defRPr/>
            </a:pPr>
            <a:fld id="{47AD94C6-03C6-4AFE-BD08-48BB3E230EC0}" type="slidenum">
              <a:rPr lang="en-IN"/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Notes Placeholder 2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>
              <a:spcBef>
                <a:spcPct val="0"/>
              </a:spcBef>
            </a:pPr>
            <a:endParaRPr lang="en-IN" altLang="en-US"/>
          </a:p>
        </p:txBody>
      </p:sp>
      <p:sp>
        <p:nvSpPr>
          <p:cNvPr id="17412" name="Slide Number Placeholder 3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/>
          <a:lstStyle>
            <a:lvl1pPr>
              <a:defRPr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6FB79743-404F-4819-92C0-C7C8721E5040}" type="slidenum">
              <a:rPr lang="en-IN" altLang="en-US"/>
            </a:fld>
            <a:endParaRPr lang="en-I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048582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AFD47C-1FE2-4504-B143-84DE75B36E42}" type="datetimeFigureOut">
              <a:rPr lang="en-IN"/>
            </a:fld>
            <a:endParaRPr lang="en-IN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1440C14-1891-4A7C-859B-696B5F552C26}" type="slidenum">
              <a:rPr lang="en-IN"/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048590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74B3E55-E94C-47B2-A942-4F120717E620}" type="datetimeFigureOut">
              <a:rPr lang="en-IN"/>
            </a:fld>
            <a:endParaRPr lang="en-IN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779E351-86C9-4622-B919-224BC485AC73}" type="slidenum">
              <a:rPr lang="en-IN"/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04864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DC8F037-A53F-441E-81B4-CC4062D1F8DC}" type="datetimeFigureOut">
              <a:rPr lang="en-IN"/>
            </a:fld>
            <a:endParaRPr lang="en-IN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B0E60F1-0A11-4CA1-A214-614549DDAFD8}" type="slidenum">
              <a:rPr lang="en-IN"/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7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048648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048649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B3541D3-6B33-4B2A-8330-B8421224E7D9}" type="datetimeFigureOut">
              <a:rPr lang="en-IN"/>
            </a:fld>
            <a:endParaRPr lang="en-IN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BBA469-4EA0-4E09-B681-FC4BD924EBF0}" type="slidenum">
              <a:rPr lang="en-IN"/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3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048654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048655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048656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048657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0013B1-5000-420B-AC22-D87D8E19D911}" type="datetimeFigureOut">
              <a:rPr lang="en-IN"/>
            </a:fld>
            <a:endParaRPr lang="en-IN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A632FE5-660B-4EFE-B163-DE10B430A118}" type="slidenum">
              <a:rPr lang="en-IN"/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DA980ED-2068-420F-8C35-C04C69D052EE}" type="datetimeFigureOut">
              <a:rPr lang="en-IN"/>
            </a:fld>
            <a:endParaRPr lang="en-IN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657E6BC-5A4A-4285-ADB7-DFF63DD4A788}" type="slidenum">
              <a:rPr lang="en-IN"/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9759BB6-2E53-41FA-B99D-69823677DD08}" type="datetimeFigureOut">
              <a:rPr lang="en-IN"/>
            </a:fld>
            <a:endParaRPr lang="en-IN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7BC7085-9CA5-4A5F-BC05-936C7D394891}" type="slidenum">
              <a:rPr lang="en-IN"/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4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048665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048666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C744FB9-E12D-4E10-B892-0AB0EE685DD6}" type="datetimeFigureOut">
              <a:rPr lang="en-IN"/>
            </a:fld>
            <a:endParaRPr lang="en-IN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2269817-BA34-4184-AEA8-F1290F222790}" type="slidenum">
              <a:rPr lang="en-IN"/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1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048632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  <a:endParaRPr lang="en-IN" noProof="0"/>
          </a:p>
        </p:txBody>
      </p:sp>
      <p:sp>
        <p:nvSpPr>
          <p:cNvPr id="1048633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AAEEB0E-3D08-409E-B8CF-23F21ECAEF8F}" type="datetimeFigureOut">
              <a:rPr lang="en-IN"/>
            </a:fld>
            <a:endParaRPr lang="en-IN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57039BE-2FEF-4FE9-AD85-6747C341E06C}" type="slidenum">
              <a:rPr lang="en-IN"/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7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048638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F50902E-11CD-4769-B1C0-2EBB26EEDDA2}" type="datetimeFigureOut">
              <a:rPr lang="en-IN"/>
            </a:fld>
            <a:endParaRPr lang="en-IN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CA852AC-A9DB-429F-BFE5-4E7DC7D494D2}" type="slidenum">
              <a:rPr lang="en-IN"/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6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048627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8FAD622-4703-4E7C-B5E5-09F754C81A54}" type="datetimeFigureOut">
              <a:rPr lang="en-IN"/>
            </a:fld>
            <a:endParaRPr lang="en-IN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ADA3BDD-571A-4A3D-9E88-BBA86E7D5939}" type="slidenum">
              <a:rPr lang="en-IN"/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 altLang="en-US"/>
              <a:t>Click to edit Master title style</a:t>
            </a:r>
            <a:endParaRPr lang="en-IN" altLang="en-US"/>
          </a:p>
        </p:txBody>
      </p:sp>
      <p:sp>
        <p:nvSpPr>
          <p:cNvPr id="1027" name="Text Placeholder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en-US"/>
              <a:t>Click to edit Master text styles</a:t>
            </a:r>
            <a:endParaRPr lang="en-US" altLang="en-US"/>
          </a:p>
          <a:p>
            <a:pPr lvl="1"/>
            <a:r>
              <a:rPr lang="en-US" altLang="en-US"/>
              <a:t>Second level</a:t>
            </a:r>
            <a:endParaRPr lang="en-US" altLang="en-US"/>
          </a:p>
          <a:p>
            <a:pPr lvl="2"/>
            <a:r>
              <a:rPr lang="en-US" altLang="en-US"/>
              <a:t>Third level</a:t>
            </a:r>
            <a:endParaRPr lang="en-US" altLang="en-US"/>
          </a:p>
          <a:p>
            <a:pPr lvl="3"/>
            <a:r>
              <a:rPr lang="en-US" altLang="en-US"/>
              <a:t>Fourth level</a:t>
            </a:r>
            <a:endParaRPr lang="en-US" altLang="en-US"/>
          </a:p>
          <a:p>
            <a:pPr lvl="4"/>
            <a:r>
              <a:rPr lang="en-US" altLang="en-US"/>
              <a:t>Fifth level</a:t>
            </a:r>
            <a:endParaRPr lang="en-IN" altLang="en-US"/>
          </a:p>
        </p:txBody>
      </p:sp>
      <p:sp>
        <p:nvSpPr>
          <p:cNvPr id="1048578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82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AD4FC93B-7E11-41CF-A31A-5E2FD9ADEC70}" type="datetimeFigureOut">
              <a:rPr lang="en-IN"/>
            </a:fld>
            <a:endParaRPr lang="en-IN"/>
          </a:p>
        </p:txBody>
      </p:sp>
      <p:sp>
        <p:nvSpPr>
          <p:cNvPr id="104857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 dirty="0">
                <a:solidFill>
                  <a:schemeClr val="tx1">
                    <a:tint val="82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104858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82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A3600756-A4A2-4CE9-8F5B-0AF7BCB818DF}" type="slidenum">
              <a:rPr lang="en-IN"/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ptos Display" panose="020B0004020202020204" pitchFamily="34" charset="0"/>
        </a:defRPr>
      </a:lvl2pPr>
      <a:lvl3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ptos Display" panose="020B0004020202020204" pitchFamily="34" charset="0"/>
        </a:defRPr>
      </a:lvl3pPr>
      <a:lvl4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ptos Display" panose="020B0004020202020204" pitchFamily="34" charset="0"/>
        </a:defRPr>
      </a:lvl4pPr>
      <a:lvl5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ptos Display" panose="020B0004020202020204" pitchFamily="34" charset="0"/>
        </a:defRPr>
      </a:lvl5pPr>
      <a:lvl6pPr marL="4572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ptos Display" panose="020B0004020202020204" pitchFamily="34" charset="0"/>
        </a:defRPr>
      </a:lvl6pPr>
      <a:lvl7pPr marL="9144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ptos Display" panose="020B0004020202020204" pitchFamily="34" charset="0"/>
        </a:defRPr>
      </a:lvl7pPr>
      <a:lvl8pPr marL="13716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ptos Display" panose="020B0004020202020204" pitchFamily="34" charset="0"/>
        </a:defRPr>
      </a:lvl8pPr>
      <a:lvl9pPr marL="18288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ptos Display" panose="020B0004020202020204" pitchFamily="34" charset="0"/>
        </a:defRPr>
      </a:lvl9pPr>
    </p:titleStyle>
    <p:bodyStyle>
      <a:lvl1pPr marL="228600" indent="-228600" algn="l" rtl="0" eaLnBrk="1" fontAlgn="base" hangingPunct="1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6" name="Title 1"/>
          <p:cNvSpPr>
            <a:spLocks noGrp="1"/>
          </p:cNvSpPr>
          <p:nvPr>
            <p:ph type="ctrTitle"/>
          </p:nvPr>
        </p:nvSpPr>
        <p:spPr>
          <a:xfrm>
            <a:off x="1635125" y="3239770"/>
            <a:ext cx="9402445" cy="891540"/>
          </a:xfrm>
        </p:spPr>
        <p:txBody>
          <a:bodyPr rtlCol="0"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en-US" sz="32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ECA0908		</a:t>
            </a:r>
            <a:br>
              <a:rPr lang="en-US" altLang="en-US" sz="32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altLang="en-US" sz="32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altLang="en-US" sz="32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DIGITAL SIGNAL PROCESSING</a:t>
            </a:r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endParaRPr lang="en-US" alt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75" name="Subtitle 2"/>
          <p:cNvSpPr>
            <a:spLocks noGrp="1" noChangeArrowheads="1"/>
          </p:cNvSpPr>
          <p:nvPr>
            <p:ph type="subTitle" idx="1"/>
          </p:nvPr>
        </p:nvSpPr>
        <p:spPr>
          <a:xfrm>
            <a:off x="908050" y="2004695"/>
            <a:ext cx="10375900" cy="935990"/>
          </a:xfrm>
        </p:spPr>
        <p:txBody>
          <a:bodyPr/>
          <a:lstStyle/>
          <a:p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Burg spectral estimation algorithm uses model order 2 instead of 10, producing poor spectral peaks. Identify the implementation error.</a:t>
            </a:r>
            <a:endParaRPr lang="en-US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076" name="Picture 3" descr="SSE-Computer Science and Engineeri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325" y="228600"/>
            <a:ext cx="10039350" cy="1109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7" name="TextBox 4"/>
          <p:cNvSpPr txBox="1">
            <a:spLocks noChangeArrowheads="1"/>
          </p:cNvSpPr>
          <p:nvPr/>
        </p:nvSpPr>
        <p:spPr bwMode="auto">
          <a:xfrm>
            <a:off x="385452" y="4608132"/>
            <a:ext cx="6153150" cy="860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9pPr>
          </a:lstStyle>
          <a:p>
            <a:pPr eaLnBrk="1" hangingPunct="1"/>
            <a:r>
              <a:rPr lang="en-I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By:                                                                                                                                      </a:t>
            </a:r>
            <a:endParaRPr lang="zh-CN" altLang="en-US" sz="1600" dirty="0"/>
          </a:p>
          <a:p>
            <a:pPr eaLnBrk="1" hangingPunct="1">
              <a:lnSpc>
                <a:spcPct val="150000"/>
              </a:lnSpc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Laxmi ManiKanta</a:t>
            </a:r>
            <a:r>
              <a:rPr lang="en-I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19231265</a:t>
            </a:r>
            <a:r>
              <a:rPr lang="en-I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1</a:t>
            </a:r>
            <a:r>
              <a:rPr lang="en-I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</a:t>
            </a:r>
            <a:endParaRPr lang="en-IN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78" name="TextBox 1"/>
          <p:cNvSpPr txBox="1">
            <a:spLocks noChangeArrowheads="1"/>
          </p:cNvSpPr>
          <p:nvPr/>
        </p:nvSpPr>
        <p:spPr bwMode="auto">
          <a:xfrm>
            <a:off x="5338452" y="4131882"/>
            <a:ext cx="2400300" cy="4756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9pPr>
          </a:lstStyle>
          <a:p>
            <a:pPr eaLnBrk="1" hangingPunct="1"/>
            <a:r>
              <a:rPr lang="en-IN" altLang="en-US" sz="25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SEP 2026</a:t>
            </a:r>
            <a:endParaRPr lang="en-IN" altLang="en-US" dirty="0"/>
          </a:p>
        </p:txBody>
      </p:sp>
      <p:sp>
        <p:nvSpPr>
          <p:cNvPr id="3079" name="TextBox 3"/>
          <p:cNvSpPr txBox="1">
            <a:spLocks noChangeArrowheads="1"/>
          </p:cNvSpPr>
          <p:nvPr/>
        </p:nvSpPr>
        <p:spPr bwMode="auto">
          <a:xfrm>
            <a:off x="7401949" y="5245993"/>
            <a:ext cx="4224619" cy="1198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9pPr>
          </a:lstStyle>
          <a:p>
            <a:pPr eaLnBrk="1" hangingPunct="1"/>
            <a:r>
              <a:rPr lang="en-I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en-IN" alt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Supervison</a:t>
            </a:r>
            <a:r>
              <a:rPr lang="en-I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of:</a:t>
            </a:r>
            <a:endParaRPr lang="en-I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/>
            <a:r>
              <a:rPr lang="en-I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Dr.Y.MARY REEJA			</a:t>
            </a:r>
            <a:endParaRPr lang="zh-CN" alt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/>
          <p:cNvSpPr>
            <a:spLocks noGrp="1" noChangeArrowheads="1"/>
          </p:cNvSpPr>
          <p:nvPr>
            <p:ph type="title"/>
          </p:nvPr>
        </p:nvSpPr>
        <p:spPr>
          <a:xfrm>
            <a:off x="4262120" y="1348105"/>
            <a:ext cx="5572125" cy="1325563"/>
          </a:xfrm>
        </p:spPr>
        <p:txBody>
          <a:bodyPr/>
          <a:lstStyle/>
          <a:p>
            <a:r>
              <a:rPr lang="en-I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alt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099" name="Picture 3" descr="SSE-Computer Science and Engineeri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6963" y="238125"/>
            <a:ext cx="7239000" cy="1109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100" name="Rectangle 1"/>
          <p:cNvSpPr>
            <a:spLocks noGrp="1" noChangeArrowheads="1"/>
          </p:cNvSpPr>
          <p:nvPr>
            <p:ph idx="1"/>
          </p:nvPr>
        </p:nvSpPr>
        <p:spPr>
          <a:xfrm>
            <a:off x="928370" y="2091055"/>
            <a:ext cx="10597515" cy="4766945"/>
          </a:xfrm>
        </p:spPr>
        <p:txBody>
          <a:bodyPr wrap="square" anchor="ctr"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Burg spectral estimation is a parametric method used to estimate the Power Spectral Density (PSD) of a signal.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models the signal using an Autoregressive (AR) model.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the model order is too low (e.g., 2 instead of 10), the algorithm underfits the signal.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results in poor spectral resolution, broader peaks, and loss of important frequency components.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509588" y="804863"/>
            <a:ext cx="10515600" cy="1325562"/>
          </a:xfrm>
        </p:spPr>
        <p:txBody>
          <a:bodyPr/>
          <a:lstStyle/>
          <a:p>
            <a:pPr algn="ctr"/>
            <a:r>
              <a:rPr lang="en-I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</a:t>
            </a:r>
            <a:endParaRPr lang="en-IN" alt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23" name="Content Placeholder 2"/>
          <p:cNvSpPr>
            <a:spLocks noGrp="1" noChangeArrowheads="1"/>
          </p:cNvSpPr>
          <p:nvPr>
            <p:ph idx="1"/>
          </p:nvPr>
        </p:nvSpPr>
        <p:spPr>
          <a:xfrm>
            <a:off x="3523615" y="1962785"/>
            <a:ext cx="5713095" cy="4351655"/>
          </a:xfrm>
        </p:spPr>
        <p:txBody>
          <a:bodyPr/>
          <a:lstStyle/>
          <a:p>
            <a:pPr lvl="0"/>
            <a:r>
              <a:rPr lang="en-US" altLang="en-US" sz="2000" dirty="0"/>
              <a:t>% Incorrect Implementation</a:t>
            </a:r>
            <a:endParaRPr lang="en-US" altLang="en-US" sz="2000" dirty="0"/>
          </a:p>
          <a:p>
            <a:pPr lvl="0"/>
            <a:r>
              <a:rPr lang="en-US" altLang="en-US" sz="2000" dirty="0"/>
              <a:t>p = 2;</a:t>
            </a:r>
            <a:endParaRPr lang="en-US" altLang="en-US" sz="2000" dirty="0"/>
          </a:p>
          <a:p>
            <a:pPr lvl="0"/>
            <a:r>
              <a:rPr lang="en-US" altLang="en-US" sz="2000" dirty="0"/>
              <a:t>[Pxx,f] = pburg(x,p,512,Fs);</a:t>
            </a:r>
            <a:endParaRPr lang="en-US" altLang="en-US" sz="2000" dirty="0"/>
          </a:p>
          <a:p>
            <a:pPr lvl="0"/>
            <a:r>
              <a:rPr lang="en-US" altLang="en-US" sz="2000" dirty="0"/>
              <a:t>% Correct Implementation</a:t>
            </a:r>
            <a:endParaRPr lang="en-US" altLang="en-US" sz="2000" dirty="0"/>
          </a:p>
          <a:p>
            <a:pPr lvl="0"/>
            <a:r>
              <a:rPr lang="en-US" altLang="en-US" sz="2000" dirty="0"/>
              <a:t>p = 10;</a:t>
            </a:r>
            <a:endParaRPr lang="en-US" altLang="en-US" sz="2000" dirty="0"/>
          </a:p>
          <a:p>
            <a:pPr lvl="0"/>
            <a:r>
              <a:rPr lang="en-US" altLang="en-US" sz="2000" dirty="0"/>
              <a:t>[Pxx,f] = pburg(x,p,512,Fs);</a:t>
            </a:r>
            <a:endParaRPr lang="en-US" altLang="en-US" sz="2000" dirty="0"/>
          </a:p>
          <a:p>
            <a:pPr lvl="0"/>
            <a:r>
              <a:rPr lang="en-US" altLang="en-US" sz="2000" dirty="0"/>
              <a:t>plot(f,10*log10(Pxx));</a:t>
            </a:r>
            <a:endParaRPr lang="en-US" altLang="en-US" sz="2000" dirty="0"/>
          </a:p>
          <a:p>
            <a:pPr lvl="0"/>
            <a:r>
              <a:rPr lang="en-US" altLang="en-US" sz="2000" dirty="0"/>
              <a:t>xlabel('Frequency (Hz)');</a:t>
            </a:r>
            <a:endParaRPr lang="en-US" altLang="en-US" sz="2000" dirty="0"/>
          </a:p>
          <a:p>
            <a:pPr lvl="0"/>
            <a:r>
              <a:rPr lang="en-US" altLang="en-US" sz="2000" dirty="0"/>
              <a:t>ylabel('Power/Frequency (dB/Hz)');</a:t>
            </a:r>
            <a:endParaRPr lang="en-US" altLang="en-US" sz="2000" dirty="0"/>
          </a:p>
          <a:p>
            <a:pPr lvl="0"/>
            <a:r>
              <a:rPr lang="en-US" altLang="en-US" sz="2000" dirty="0"/>
              <a:t>title('Burg Power Spectral Density Estimate');</a:t>
            </a:r>
            <a:endParaRPr lang="en-US" altLang="en-US" sz="2000" dirty="0"/>
          </a:p>
          <a:p>
            <a:pPr lvl="0"/>
            <a:r>
              <a:rPr lang="en-US" altLang="en-US" sz="2000" dirty="0"/>
              <a:t>grid on;</a:t>
            </a:r>
            <a:endParaRPr lang="en-US" altLang="en-US" sz="2000" dirty="0"/>
          </a:p>
        </p:txBody>
      </p:sp>
      <p:pic>
        <p:nvPicPr>
          <p:cNvPr id="5124" name="Picture 3" descr="SSE-Computer Science and Engineeri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7888" y="95250"/>
            <a:ext cx="7239000" cy="1109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/>
          <p:cNvSpPr>
            <a:spLocks noGrp="1" noChangeArrowheads="1"/>
          </p:cNvSpPr>
          <p:nvPr>
            <p:ph type="title"/>
          </p:nvPr>
        </p:nvSpPr>
        <p:spPr>
          <a:xfrm>
            <a:off x="719138" y="1144588"/>
            <a:ext cx="10515600" cy="1325562"/>
          </a:xfrm>
        </p:spPr>
        <p:txBody>
          <a:bodyPr/>
          <a:lstStyle/>
          <a:p>
            <a:pPr algn="ctr"/>
            <a:r>
              <a:rPr lang="en-I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endParaRPr lang="en-IN" alt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6387" name="Picture 3" descr="SSE-Computer Science and Engineeri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57438" y="109538"/>
            <a:ext cx="7239000" cy="1109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Content Placeholder 1"/>
          <p:cNvPicPr>
            <a:picLocks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48685" y="2195830"/>
            <a:ext cx="4829175" cy="368109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Content Placeholder 2"/>
          <p:cNvSpPr>
            <a:spLocks noGrp="1" noChangeArrowheads="1"/>
          </p:cNvSpPr>
          <p:nvPr>
            <p:ph idx="1"/>
          </p:nvPr>
        </p:nvSpPr>
        <p:spPr>
          <a:xfrm>
            <a:off x="3770313" y="3057525"/>
            <a:ext cx="5257800" cy="898525"/>
          </a:xfrm>
        </p:spPr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r>
              <a:rPr lang="en-IN" altLang="en-US" sz="480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IN" altLang="en-US" sz="4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INDEX" val="2"/>
  <p:tag name="KSO_WM_UNIT_TYPE" val="f"/>
  <p:tag name="KSO_WM_UNIT_SUBTYPE" val="a"/>
  <p:tag name="KSO_WM_BEAUTIFY_FLAG" val="#wm#"/>
  <p:tag name="SlideZOrder" val="1"/>
  <p:tag name="KSO_WM_SHAPE_PLACEHOLDEROBJECT" val="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CS ppt</Template>
  <TotalTime>0</TotalTime>
  <Words>1088</Words>
  <Application>WPS Presentation</Application>
  <PresentationFormat>Widescreen</PresentationFormat>
  <Paragraphs>37</Paragraphs>
  <Slides>5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22" baseType="lpstr">
      <vt:lpstr>Arial</vt:lpstr>
      <vt:lpstr>SimSun</vt:lpstr>
      <vt:lpstr>Wingdings</vt:lpstr>
      <vt:lpstr>Aptos</vt:lpstr>
      <vt:lpstr>Segoe UI</vt:lpstr>
      <vt:lpstr>Aptos Display</vt:lpstr>
      <vt:lpstr>Segoe UI Variable Display</vt:lpstr>
      <vt:lpstr>Times New Roman</vt:lpstr>
      <vt:lpstr>Microsoft YaHei</vt:lpstr>
      <vt:lpstr>Arial Unicode MS</vt:lpstr>
      <vt:lpstr>Wingdings</vt:lpstr>
      <vt:lpstr>江城圆体 400W</vt:lpstr>
      <vt:lpstr>Mali</vt:lpstr>
      <vt:lpstr>Mali SemiBold</vt:lpstr>
      <vt:lpstr>Inter</vt:lpstr>
      <vt:lpstr>Inter Bold</vt:lpstr>
      <vt:lpstr>Office Theme</vt:lpstr>
      <vt:lpstr> 	ECA0908		         DIGITAL SIGNAL PROCESSING		</vt:lpstr>
      <vt:lpstr>      ABSTRACT</vt:lpstr>
      <vt:lpstr>                                                                           INTRODUCTION</vt:lpstr>
      <vt:lpstr>                                    REFERENCES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 ECA0908           DIGITAL SIGNAL PROCESSING  </dc:title>
  <dc:creator>M.Meghavardhan Reddy</dc:creator>
  <cp:lastModifiedBy>Megha creations</cp:lastModifiedBy>
  <cp:revision>5</cp:revision>
  <dcterms:created xsi:type="dcterms:W3CDTF">2026-07-29T08:34:00Z</dcterms:created>
  <dcterms:modified xsi:type="dcterms:W3CDTF">2026-08-05T06:02:23Z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01122DAD7E074FA0B9DE50C4D748166F_13</vt:lpwstr>
  </property>
  <property fmtid="{D5CDD505-2E9C-101B-9397-08002B2CF9AE}" pid="3" name="KSOProductBuildVer">
    <vt:lpwstr>1033-12.1.0.28032</vt:lpwstr>
  </property>
</Properties>
</file>